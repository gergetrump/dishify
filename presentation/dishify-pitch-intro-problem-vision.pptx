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[name] — quick show of hands, who's stood in front of an open fridge with no idea what to cook? That's the moment Dishify is built for. We're an AI-powered cooking assistant: tell us what you have — by typing, talking, or just snapping a photo of your fridge — and we recommend recipes that actually fit, explain why, and suggest swaps for what you're missing. Over the next two minutes I'll walk you through the problem we're solving and where we're taking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are broken today. First, pantry-first search basically doesn't exist — if you want a recipe that uses what's already in your fridge, you're typing every ingredient into a search box by hand, so most people just don't bother and either waste food or cook the same five meals on repeat. Second, allergies and diets are treated as soft suggestions, not hard rules — that's not good enough when someone's safety is on the line. And third, generic AI chatbots aren't grounded in real recipes — ask for a recipe and you might get hallucinated ingredients or steps, which is exactly the wrong tool when the constraint is 'this could make someone sick.'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where we're taking it. You speak a craving or snap a photo of your fridge, and voice and vision models turn that into structured ingredients — no typing. Every recommendation is retrieved from a real corpus of over two million recipes through vector search and ranked against what you actually have, so nothing is invented. Safety is structural, not a prompt suggestion — allergy and diet exclusions are hard filters baked into retrieval, so an unsafe recipe never even makes it into the candidate list. And finally, an LLM reasoning layer explains why each recipe fits and suggests smart substitutions, so it's not just a list — it's guidance you can actually cook from. That's Dishify: start from what you have, and let the system do the 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9144000" cy="457200"/>
          </a:xfrm>
          <a:prstGeom prst="rect">
            <a:avLst/>
          </a:prstGeom>
          <a:noFill/>
        </p:spPr>
        <p:txBody>
          <a:bodyPr wrap="square">
            <a:spAutoFit/>
          </a:bodyPr>
          <a:lstStyle/>
          <a:p>
            <a:pPr algn="l">
              <a:lnSpc>
                <a:spcPct val="100000"/>
              </a:lnSpc>
            </a:pPr>
            <a:r>
              <a:rPr sz="1500" b="1" i="0">
                <a:solidFill>
                  <a:srgbClr val="E0523D"/>
                </a:solidFill>
                <a:latin typeface="Calibri"/>
              </a:rPr>
              <a:t>GENAI COURSE PROJECT  ·  FINAL PRESENTATION</a:t>
            </a:r>
          </a:p>
        </p:txBody>
      </p:sp>
      <p:sp>
        <p:nvSpPr>
          <p:cNvPr id="4" name="TextBox 3"/>
          <p:cNvSpPr txBox="1"/>
          <p:nvPr/>
        </p:nvSpPr>
        <p:spPr>
          <a:xfrm>
            <a:off x="777240" y="2331720"/>
            <a:ext cx="10515600" cy="1463040"/>
          </a:xfrm>
          <a:prstGeom prst="rect">
            <a:avLst/>
          </a:prstGeom>
          <a:noFill/>
        </p:spPr>
        <p:txBody>
          <a:bodyPr wrap="square">
            <a:spAutoFit/>
          </a:bodyPr>
          <a:lstStyle/>
          <a:p>
            <a:pPr algn="l">
              <a:lnSpc>
                <a:spcPct val="100000"/>
              </a:lnSpc>
            </a:pPr>
            <a:r>
              <a:rPr sz="8600" b="1" i="0">
                <a:solidFill>
                  <a:srgbClr val="222224"/>
                </a:solidFill>
                <a:latin typeface="Calibri"/>
              </a:rPr>
              <a:t>Dishify</a:t>
            </a:r>
          </a:p>
        </p:txBody>
      </p:sp>
      <p:sp>
        <p:nvSpPr>
          <p:cNvPr id="5" name="TextBox 4"/>
          <p:cNvSpPr txBox="1"/>
          <p:nvPr/>
        </p:nvSpPr>
        <p:spPr>
          <a:xfrm>
            <a:off x="822960" y="3429000"/>
            <a:ext cx="9601200" cy="822960"/>
          </a:xfrm>
          <a:prstGeom prst="rect">
            <a:avLst/>
          </a:prstGeom>
          <a:noFill/>
        </p:spPr>
        <p:txBody>
          <a:bodyPr wrap="square">
            <a:spAutoFit/>
          </a:bodyPr>
          <a:lstStyle/>
          <a:p>
            <a:pPr algn="l">
              <a:lnSpc>
                <a:spcPct val="100000"/>
              </a:lnSpc>
            </a:pPr>
            <a:r>
              <a:rPr sz="2200" b="0" i="0">
                <a:solidFill>
                  <a:srgbClr val="5B5F63"/>
                </a:solidFill>
                <a:latin typeface="Calibri"/>
              </a:rPr>
              <a:t>The AI cooking assistant that starts with what's already in your kitchen.</a:t>
            </a:r>
          </a:p>
        </p:txBody>
      </p:sp>
      <p:sp>
        <p:nvSpPr>
          <p:cNvPr id="6" name="Rounded Rectangle 5"/>
          <p:cNvSpPr/>
          <p:nvPr/>
        </p:nvSpPr>
        <p:spPr>
          <a:xfrm>
            <a:off x="822960" y="4434840"/>
            <a:ext cx="2107692" cy="502920"/>
          </a:xfrm>
          <a:prstGeom prst="roundRect">
            <a:avLst>
              <a:gd name="adj" fmla="val 50000"/>
            </a:avLst>
          </a:prstGeom>
          <a:solidFill>
            <a:srgbClr val="F7F3EC"/>
          </a:solidFill>
          <a:ln w="15875">
            <a:solidFill>
              <a:srgbClr val="3E8E63"/>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300" b="1">
                <a:solidFill>
                  <a:srgbClr val="3E8E63"/>
                </a:solidFill>
                <a:latin typeface="Calibri"/>
              </a:rPr>
              <a:t>2M+ recipe corpus</a:t>
            </a:r>
          </a:p>
        </p:txBody>
      </p:sp>
      <p:sp>
        <p:nvSpPr>
          <p:cNvPr id="7" name="Rounded Rectangle 6"/>
          <p:cNvSpPr/>
          <p:nvPr/>
        </p:nvSpPr>
        <p:spPr>
          <a:xfrm>
            <a:off x="3159252" y="4434840"/>
            <a:ext cx="2318004" cy="502920"/>
          </a:xfrm>
          <a:prstGeom prst="roundRect">
            <a:avLst>
              <a:gd name="adj" fmla="val 50000"/>
            </a:avLst>
          </a:prstGeom>
          <a:solidFill>
            <a:srgbClr val="F7F3EC"/>
          </a:solidFill>
          <a:ln w="15875">
            <a:solidFill>
              <a:srgbClr val="E0523D"/>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300" b="1">
                <a:solidFill>
                  <a:srgbClr val="E0523D"/>
                </a:solidFill>
                <a:latin typeface="Calibri"/>
              </a:rPr>
              <a:t>Voice + photo input</a:t>
            </a:r>
          </a:p>
        </p:txBody>
      </p:sp>
      <p:sp>
        <p:nvSpPr>
          <p:cNvPr id="8" name="Rounded Rectangle 7"/>
          <p:cNvSpPr/>
          <p:nvPr/>
        </p:nvSpPr>
        <p:spPr>
          <a:xfrm>
            <a:off x="5705856" y="4434840"/>
            <a:ext cx="2633472" cy="502920"/>
          </a:xfrm>
          <a:prstGeom prst="roundRect">
            <a:avLst>
              <a:gd name="adj" fmla="val 50000"/>
            </a:avLst>
          </a:prstGeom>
          <a:solidFill>
            <a:srgbClr val="F7F3EC"/>
          </a:solidFill>
          <a:ln w="15875">
            <a:solidFill>
              <a:srgbClr val="3E8E63"/>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300" b="1">
                <a:solidFill>
                  <a:srgbClr val="3E8E63"/>
                </a:solidFill>
                <a:latin typeface="Calibri"/>
              </a:rPr>
              <a:t>Allergy-safe by design</a:t>
            </a:r>
          </a:p>
        </p:txBody>
      </p:sp>
      <p:sp>
        <p:nvSpPr>
          <p:cNvPr id="9" name="TextBox 8"/>
          <p:cNvSpPr txBox="1"/>
          <p:nvPr/>
        </p:nvSpPr>
        <p:spPr>
          <a:xfrm>
            <a:off x="822960" y="5989320"/>
            <a:ext cx="7315200" cy="457200"/>
          </a:xfrm>
          <a:prstGeom prst="rect">
            <a:avLst/>
          </a:prstGeom>
          <a:noFill/>
        </p:spPr>
        <p:txBody>
          <a:bodyPr wrap="square">
            <a:spAutoFit/>
          </a:bodyPr>
          <a:lstStyle/>
          <a:p>
            <a:pPr algn="l">
              <a:lnSpc>
                <a:spcPct val="100000"/>
              </a:lnSpc>
            </a:pPr>
            <a:r>
              <a:rPr sz="1300" b="0" i="0">
                <a:solidFill>
                  <a:srgbClr val="5B5F63"/>
                </a:solidFill>
                <a:latin typeface="Calibri"/>
              </a:rPr>
              <a:t>[Team names]  ·  [Course name]  ·  [Date]</a:t>
            </a:r>
          </a:p>
        </p:txBody>
      </p:sp>
      <p:sp>
        <p:nvSpPr>
          <p:cNvPr id="10" name="Rectangle 9"/>
          <p:cNvSpPr/>
          <p:nvPr/>
        </p:nvSpPr>
        <p:spPr>
          <a:xfrm>
            <a:off x="0" y="6601968"/>
            <a:ext cx="12191695" cy="256032"/>
          </a:xfrm>
          <a:prstGeom prst="rect">
            <a:avLst/>
          </a:prstGeom>
          <a:solidFill>
            <a:srgbClr val="3E8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2960" y="685800"/>
            <a:ext cx="502920" cy="73152"/>
          </a:xfrm>
          <a:prstGeom prst="rect">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68680"/>
            <a:ext cx="7315200" cy="365760"/>
          </a:xfrm>
          <a:prstGeom prst="rect">
            <a:avLst/>
          </a:prstGeom>
          <a:noFill/>
        </p:spPr>
        <p:txBody>
          <a:bodyPr wrap="square">
            <a:spAutoFit/>
          </a:bodyPr>
          <a:lstStyle/>
          <a:p>
            <a:pPr algn="l">
              <a:lnSpc>
                <a:spcPct val="100000"/>
              </a:lnSpc>
            </a:pPr>
            <a:r>
              <a:rPr sz="1400" b="1" i="0">
                <a:solidFill>
                  <a:srgbClr val="5B5F63"/>
                </a:solidFill>
                <a:latin typeface="Calibri"/>
              </a:rPr>
              <a:t>THE PROBLEM</a:t>
            </a:r>
          </a:p>
        </p:txBody>
      </p:sp>
      <p:sp>
        <p:nvSpPr>
          <p:cNvPr id="4" name="TextBox 3"/>
          <p:cNvSpPr txBox="1"/>
          <p:nvPr/>
        </p:nvSpPr>
        <p:spPr>
          <a:xfrm>
            <a:off x="777240" y="1143000"/>
            <a:ext cx="10515600" cy="1005840"/>
          </a:xfrm>
          <a:prstGeom prst="rect">
            <a:avLst/>
          </a:prstGeom>
          <a:noFill/>
        </p:spPr>
        <p:txBody>
          <a:bodyPr wrap="square">
            <a:spAutoFit/>
          </a:bodyPr>
          <a:lstStyle/>
          <a:p>
            <a:pPr algn="l">
              <a:lnSpc>
                <a:spcPct val="100000"/>
              </a:lnSpc>
            </a:pPr>
            <a:r>
              <a:rPr sz="4000" b="1" i="0">
                <a:solidFill>
                  <a:srgbClr val="222224"/>
                </a:solidFill>
                <a:latin typeface="Calibri"/>
              </a:rPr>
              <a:t>Deciding what to cook is still manual, unsafe, or made up</a:t>
            </a:r>
          </a:p>
        </p:txBody>
      </p:sp>
      <p:sp>
        <p:nvSpPr>
          <p:cNvPr id="5" name="Rounded Rectangle 4"/>
          <p:cNvSpPr/>
          <p:nvPr/>
        </p:nvSpPr>
        <p:spPr>
          <a:xfrm>
            <a:off x="822960" y="1965960"/>
            <a:ext cx="10515600" cy="13716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2258568"/>
            <a:ext cx="502920" cy="502920"/>
          </a:xfrm>
          <a:prstGeom prst="ellipse">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1</a:t>
            </a:r>
          </a:p>
        </p:txBody>
      </p:sp>
      <p:sp>
        <p:nvSpPr>
          <p:cNvPr id="7" name="TextBox 6"/>
          <p:cNvSpPr txBox="1"/>
          <p:nvPr/>
        </p:nvSpPr>
        <p:spPr>
          <a:xfrm>
            <a:off x="1828800" y="2167128"/>
            <a:ext cx="9281160" cy="457200"/>
          </a:xfrm>
          <a:prstGeom prst="rect">
            <a:avLst/>
          </a:prstGeom>
          <a:noFill/>
        </p:spPr>
        <p:txBody>
          <a:bodyPr wrap="square">
            <a:spAutoFit/>
          </a:bodyPr>
          <a:lstStyle/>
          <a:p>
            <a:pPr algn="l">
              <a:lnSpc>
                <a:spcPct val="100000"/>
              </a:lnSpc>
            </a:pPr>
            <a:r>
              <a:rPr sz="1900" b="1" i="0">
                <a:solidFill>
                  <a:srgbClr val="222224"/>
                </a:solidFill>
                <a:latin typeface="Calibri"/>
              </a:rPr>
              <a:t>Pantry-first search doesn't exist</a:t>
            </a:r>
          </a:p>
        </p:txBody>
      </p:sp>
      <p:sp>
        <p:nvSpPr>
          <p:cNvPr id="8" name="TextBox 7"/>
          <p:cNvSpPr txBox="1"/>
          <p:nvPr/>
        </p:nvSpPr>
        <p:spPr>
          <a:xfrm>
            <a:off x="1828800" y="2587752"/>
            <a:ext cx="9281160" cy="640080"/>
          </a:xfrm>
          <a:prstGeom prst="rect">
            <a:avLst/>
          </a:prstGeom>
          <a:noFill/>
        </p:spPr>
        <p:txBody>
          <a:bodyPr wrap="square">
            <a:spAutoFit/>
          </a:bodyPr>
          <a:lstStyle/>
          <a:p>
            <a:pPr algn="l">
              <a:lnSpc>
                <a:spcPct val="105000"/>
              </a:lnSpc>
            </a:pPr>
            <a:r>
              <a:rPr sz="1350" b="0" i="0">
                <a:solidFill>
                  <a:srgbClr val="5B5F63"/>
                </a:solidFill>
                <a:latin typeface="Calibri"/>
              </a:rPr>
              <a:t>"What can I make with THIS?" means typing out every ingredient by hand into a generic search box — nobody actually does it, so people default to the same five meals or let food go to waste.</a:t>
            </a:r>
          </a:p>
        </p:txBody>
      </p:sp>
      <p:sp>
        <p:nvSpPr>
          <p:cNvPr id="9" name="Rounded Rectangle 8"/>
          <p:cNvSpPr/>
          <p:nvPr/>
        </p:nvSpPr>
        <p:spPr>
          <a:xfrm>
            <a:off x="822960" y="3538728"/>
            <a:ext cx="10515600" cy="13716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3831336"/>
            <a:ext cx="502920" cy="502920"/>
          </a:xfrm>
          <a:prstGeom prst="ellipse">
            <a:avLst/>
          </a:prstGeom>
          <a:solidFill>
            <a:srgbClr val="3E8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2</a:t>
            </a:r>
          </a:p>
        </p:txBody>
      </p:sp>
      <p:sp>
        <p:nvSpPr>
          <p:cNvPr id="11" name="TextBox 10"/>
          <p:cNvSpPr txBox="1"/>
          <p:nvPr/>
        </p:nvSpPr>
        <p:spPr>
          <a:xfrm>
            <a:off x="1828800" y="3739896"/>
            <a:ext cx="9281160" cy="457200"/>
          </a:xfrm>
          <a:prstGeom prst="rect">
            <a:avLst/>
          </a:prstGeom>
          <a:noFill/>
        </p:spPr>
        <p:txBody>
          <a:bodyPr wrap="square">
            <a:spAutoFit/>
          </a:bodyPr>
          <a:lstStyle/>
          <a:p>
            <a:pPr algn="l">
              <a:lnSpc>
                <a:spcPct val="100000"/>
              </a:lnSpc>
            </a:pPr>
            <a:r>
              <a:rPr sz="1900" b="1" i="0">
                <a:solidFill>
                  <a:srgbClr val="222224"/>
                </a:solidFill>
                <a:latin typeface="Calibri"/>
              </a:rPr>
              <a:t>Allergies are treated as suggestions</a:t>
            </a:r>
          </a:p>
        </p:txBody>
      </p:sp>
      <p:sp>
        <p:nvSpPr>
          <p:cNvPr id="12" name="TextBox 11"/>
          <p:cNvSpPr txBox="1"/>
          <p:nvPr/>
        </p:nvSpPr>
        <p:spPr>
          <a:xfrm>
            <a:off x="1828800" y="4160520"/>
            <a:ext cx="9281160" cy="640080"/>
          </a:xfrm>
          <a:prstGeom prst="rect">
            <a:avLst/>
          </a:prstGeom>
          <a:noFill/>
        </p:spPr>
        <p:txBody>
          <a:bodyPr wrap="square">
            <a:spAutoFit/>
          </a:bodyPr>
          <a:lstStyle/>
          <a:p>
            <a:pPr algn="l">
              <a:lnSpc>
                <a:spcPct val="105000"/>
              </a:lnSpc>
            </a:pPr>
            <a:r>
              <a:rPr sz="1350" b="0" i="0">
                <a:solidFill>
                  <a:srgbClr val="5B5F63"/>
                </a:solidFill>
                <a:latin typeface="Calibri"/>
              </a:rPr>
              <a:t>Diet and allergy filters are usually keyword tags bolted onto search, not hard constraints. For someone with a real allergy, "probably fine" isn't good enough.</a:t>
            </a:r>
          </a:p>
        </p:txBody>
      </p:sp>
      <p:sp>
        <p:nvSpPr>
          <p:cNvPr id="13" name="Rounded Rectangle 12"/>
          <p:cNvSpPr/>
          <p:nvPr/>
        </p:nvSpPr>
        <p:spPr>
          <a:xfrm>
            <a:off x="822960" y="5111496"/>
            <a:ext cx="10515600" cy="13716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43000" y="5404104"/>
            <a:ext cx="502920" cy="502920"/>
          </a:xfrm>
          <a:prstGeom prst="ellipse">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3</a:t>
            </a:r>
          </a:p>
        </p:txBody>
      </p:sp>
      <p:sp>
        <p:nvSpPr>
          <p:cNvPr id="15" name="TextBox 14"/>
          <p:cNvSpPr txBox="1"/>
          <p:nvPr/>
        </p:nvSpPr>
        <p:spPr>
          <a:xfrm>
            <a:off x="1828800" y="5312664"/>
            <a:ext cx="9281160" cy="457200"/>
          </a:xfrm>
          <a:prstGeom prst="rect">
            <a:avLst/>
          </a:prstGeom>
          <a:noFill/>
        </p:spPr>
        <p:txBody>
          <a:bodyPr wrap="square">
            <a:spAutoFit/>
          </a:bodyPr>
          <a:lstStyle/>
          <a:p>
            <a:pPr algn="l">
              <a:lnSpc>
                <a:spcPct val="100000"/>
              </a:lnSpc>
            </a:pPr>
            <a:r>
              <a:rPr sz="1900" b="1" i="0">
                <a:solidFill>
                  <a:srgbClr val="222224"/>
                </a:solidFill>
                <a:latin typeface="Calibri"/>
              </a:rPr>
              <a:t>Generic AI chat isn't grounded</a:t>
            </a:r>
          </a:p>
        </p:txBody>
      </p:sp>
      <p:sp>
        <p:nvSpPr>
          <p:cNvPr id="16" name="TextBox 15"/>
          <p:cNvSpPr txBox="1"/>
          <p:nvPr/>
        </p:nvSpPr>
        <p:spPr>
          <a:xfrm>
            <a:off x="1828800" y="5733288"/>
            <a:ext cx="9281160" cy="640080"/>
          </a:xfrm>
          <a:prstGeom prst="rect">
            <a:avLst/>
          </a:prstGeom>
          <a:noFill/>
        </p:spPr>
        <p:txBody>
          <a:bodyPr wrap="square">
            <a:spAutoFit/>
          </a:bodyPr>
          <a:lstStyle/>
          <a:p>
            <a:pPr algn="l">
              <a:lnSpc>
                <a:spcPct val="105000"/>
              </a:lnSpc>
            </a:pPr>
            <a:r>
              <a:rPr sz="1350" b="0" i="0">
                <a:solidFill>
                  <a:srgbClr val="5B5F63"/>
                </a:solidFill>
                <a:latin typeface="Calibri"/>
              </a:rPr>
              <a:t>Ask ChatGPT for a recipe and it can invent ingredient combinations or steps that don't exist — it's not checked against real recipes, so it can't be trusted for safety-critical constraints.</a:t>
            </a:r>
          </a:p>
        </p:txBody>
      </p:sp>
      <p:sp>
        <p:nvSpPr>
          <p:cNvPr id="17" name="TextBox 16"/>
          <p:cNvSpPr txBox="1"/>
          <p:nvPr/>
        </p:nvSpPr>
        <p:spPr>
          <a:xfrm>
            <a:off x="822960" y="6446520"/>
            <a:ext cx="5486400" cy="320040"/>
          </a:xfrm>
          <a:prstGeom prst="rect">
            <a:avLst/>
          </a:prstGeom>
          <a:noFill/>
        </p:spPr>
        <p:txBody>
          <a:bodyPr wrap="square">
            <a:spAutoFit/>
          </a:bodyPr>
          <a:lstStyle/>
          <a:p>
            <a:pPr algn="l">
              <a:lnSpc>
                <a:spcPct val="100000"/>
              </a:lnSpc>
            </a:pPr>
            <a:r>
              <a:rPr sz="1050" b="0" i="0">
                <a:solidFill>
                  <a:srgbClr val="5B5F63"/>
                </a:solidFill>
                <a:latin typeface="Calibri"/>
              </a:rPr>
              <a:t>Dishify — Final Presentation</a:t>
            </a:r>
          </a:p>
        </p:txBody>
      </p:sp>
      <p:sp>
        <p:nvSpPr>
          <p:cNvPr id="18" name="TextBox 17"/>
          <p:cNvSpPr txBox="1"/>
          <p:nvPr/>
        </p:nvSpPr>
        <p:spPr>
          <a:xfrm>
            <a:off x="10972800" y="6446520"/>
            <a:ext cx="731520" cy="320040"/>
          </a:xfrm>
          <a:prstGeom prst="rect">
            <a:avLst/>
          </a:prstGeom>
          <a:noFill/>
        </p:spPr>
        <p:txBody>
          <a:bodyPr wrap="square">
            <a:spAutoFit/>
          </a:bodyPr>
          <a:lstStyle/>
          <a:p>
            <a:pPr algn="r">
              <a:lnSpc>
                <a:spcPct val="100000"/>
              </a:lnSpc>
            </a:pPr>
            <a:r>
              <a:rPr sz="1050" b="0" i="0">
                <a:solidFill>
                  <a:srgbClr val="5B5F6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2960" y="685800"/>
            <a:ext cx="502920" cy="73152"/>
          </a:xfrm>
          <a:prstGeom prst="rect">
            <a:avLst/>
          </a:prstGeom>
          <a:solidFill>
            <a:srgbClr val="3E8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68680"/>
            <a:ext cx="7315200" cy="365760"/>
          </a:xfrm>
          <a:prstGeom prst="rect">
            <a:avLst/>
          </a:prstGeom>
          <a:noFill/>
        </p:spPr>
        <p:txBody>
          <a:bodyPr wrap="square">
            <a:spAutoFit/>
          </a:bodyPr>
          <a:lstStyle/>
          <a:p>
            <a:pPr algn="l">
              <a:lnSpc>
                <a:spcPct val="100000"/>
              </a:lnSpc>
            </a:pPr>
            <a:r>
              <a:rPr sz="1400" b="1" i="0">
                <a:solidFill>
                  <a:srgbClr val="5B5F63"/>
                </a:solidFill>
                <a:latin typeface="Calibri"/>
              </a:rPr>
              <a:t>OUR VISION</a:t>
            </a:r>
          </a:p>
        </p:txBody>
      </p:sp>
      <p:sp>
        <p:nvSpPr>
          <p:cNvPr id="4" name="TextBox 3"/>
          <p:cNvSpPr txBox="1"/>
          <p:nvPr/>
        </p:nvSpPr>
        <p:spPr>
          <a:xfrm>
            <a:off x="777240" y="1143000"/>
            <a:ext cx="10515600" cy="1005840"/>
          </a:xfrm>
          <a:prstGeom prst="rect">
            <a:avLst/>
          </a:prstGeom>
          <a:noFill/>
        </p:spPr>
        <p:txBody>
          <a:bodyPr wrap="square">
            <a:spAutoFit/>
          </a:bodyPr>
          <a:lstStyle/>
          <a:p>
            <a:pPr algn="l">
              <a:lnSpc>
                <a:spcPct val="100000"/>
              </a:lnSpc>
            </a:pPr>
            <a:r>
              <a:rPr sz="4000" b="1" i="0">
                <a:solidFill>
                  <a:srgbClr val="222224"/>
                </a:solidFill>
                <a:latin typeface="Calibri"/>
              </a:rPr>
              <a:t>A grounded, multimodal cooking companion</a:t>
            </a:r>
          </a:p>
        </p:txBody>
      </p:sp>
      <p:sp>
        <p:nvSpPr>
          <p:cNvPr id="5" name="TextBox 4"/>
          <p:cNvSpPr txBox="1"/>
          <p:nvPr/>
        </p:nvSpPr>
        <p:spPr>
          <a:xfrm>
            <a:off x="822960" y="1874519"/>
            <a:ext cx="10058400" cy="594360"/>
          </a:xfrm>
          <a:prstGeom prst="rect">
            <a:avLst/>
          </a:prstGeom>
          <a:noFill/>
        </p:spPr>
        <p:txBody>
          <a:bodyPr wrap="square">
            <a:spAutoFit/>
          </a:bodyPr>
          <a:lstStyle/>
          <a:p>
            <a:pPr algn="l">
              <a:lnSpc>
                <a:spcPct val="100000"/>
              </a:lnSpc>
            </a:pPr>
            <a:r>
              <a:rPr sz="2000" b="0" i="1">
                <a:solidFill>
                  <a:srgbClr val="222224"/>
                </a:solidFill>
                <a:latin typeface="Calibri"/>
              </a:rPr>
              <a:t>“Cooking should start with what you already have — not with what you can spell into a search bar.”</a:t>
            </a:r>
          </a:p>
        </p:txBody>
      </p:sp>
      <p:sp>
        <p:nvSpPr>
          <p:cNvPr id="6" name="Rounded Rectangle 5"/>
          <p:cNvSpPr/>
          <p:nvPr/>
        </p:nvSpPr>
        <p:spPr>
          <a:xfrm>
            <a:off x="822960" y="2743200"/>
            <a:ext cx="5120640" cy="16002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43000" y="3035808"/>
            <a:ext cx="502920" cy="502920"/>
          </a:xfrm>
          <a:prstGeom prst="ellipse">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a:t>
            </a:r>
          </a:p>
        </p:txBody>
      </p:sp>
      <p:sp>
        <p:nvSpPr>
          <p:cNvPr id="8" name="TextBox 7"/>
          <p:cNvSpPr txBox="1"/>
          <p:nvPr/>
        </p:nvSpPr>
        <p:spPr>
          <a:xfrm>
            <a:off x="1828800" y="2944368"/>
            <a:ext cx="3886200" cy="457200"/>
          </a:xfrm>
          <a:prstGeom prst="rect">
            <a:avLst/>
          </a:prstGeom>
          <a:noFill/>
        </p:spPr>
        <p:txBody>
          <a:bodyPr wrap="square">
            <a:spAutoFit/>
          </a:bodyPr>
          <a:lstStyle/>
          <a:p>
            <a:pPr algn="l">
              <a:lnSpc>
                <a:spcPct val="100000"/>
              </a:lnSpc>
            </a:pPr>
            <a:r>
              <a:rPr sz="1900" b="1" i="0">
                <a:solidFill>
                  <a:srgbClr val="222224"/>
                </a:solidFill>
                <a:latin typeface="Calibri"/>
              </a:rPr>
              <a:t>Speak it or show it</a:t>
            </a:r>
          </a:p>
        </p:txBody>
      </p:sp>
      <p:sp>
        <p:nvSpPr>
          <p:cNvPr id="9" name="TextBox 8"/>
          <p:cNvSpPr txBox="1"/>
          <p:nvPr/>
        </p:nvSpPr>
        <p:spPr>
          <a:xfrm>
            <a:off x="1828800" y="3364992"/>
            <a:ext cx="3886200" cy="868680"/>
          </a:xfrm>
          <a:prstGeom prst="rect">
            <a:avLst/>
          </a:prstGeom>
          <a:noFill/>
        </p:spPr>
        <p:txBody>
          <a:bodyPr wrap="square">
            <a:spAutoFit/>
          </a:bodyPr>
          <a:lstStyle/>
          <a:p>
            <a:pPr algn="l">
              <a:lnSpc>
                <a:spcPct val="105000"/>
              </a:lnSpc>
            </a:pPr>
            <a:r>
              <a:rPr sz="1350" b="0" i="0">
                <a:solidFill>
                  <a:srgbClr val="5B5F63"/>
                </a:solidFill>
                <a:latin typeface="Calibri"/>
              </a:rPr>
              <a:t>Describe a craving out loud or snap a photo of your fridge / pantry — voice and vision models turn that into a structured ingredient list, no typing required.</a:t>
            </a:r>
          </a:p>
        </p:txBody>
      </p:sp>
      <p:sp>
        <p:nvSpPr>
          <p:cNvPr id="10" name="Rounded Rectangle 9"/>
          <p:cNvSpPr/>
          <p:nvPr/>
        </p:nvSpPr>
        <p:spPr>
          <a:xfrm>
            <a:off x="6217920" y="2743200"/>
            <a:ext cx="5120640" cy="16002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37959" y="3035808"/>
            <a:ext cx="502920" cy="502920"/>
          </a:xfrm>
          <a:prstGeom prst="ellipse">
            <a:avLst/>
          </a:prstGeom>
          <a:solidFill>
            <a:srgbClr val="3E8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a:t>
            </a:r>
          </a:p>
        </p:txBody>
      </p:sp>
      <p:sp>
        <p:nvSpPr>
          <p:cNvPr id="12" name="TextBox 11"/>
          <p:cNvSpPr txBox="1"/>
          <p:nvPr/>
        </p:nvSpPr>
        <p:spPr>
          <a:xfrm>
            <a:off x="7223760" y="2944368"/>
            <a:ext cx="3886200" cy="457200"/>
          </a:xfrm>
          <a:prstGeom prst="rect">
            <a:avLst/>
          </a:prstGeom>
          <a:noFill/>
        </p:spPr>
        <p:txBody>
          <a:bodyPr wrap="square">
            <a:spAutoFit/>
          </a:bodyPr>
          <a:lstStyle/>
          <a:p>
            <a:pPr algn="l">
              <a:lnSpc>
                <a:spcPct val="100000"/>
              </a:lnSpc>
            </a:pPr>
            <a:r>
              <a:rPr sz="1900" b="1" i="0">
                <a:solidFill>
                  <a:srgbClr val="222224"/>
                </a:solidFill>
                <a:latin typeface="Calibri"/>
              </a:rPr>
              <a:t>Grounded, not generated</a:t>
            </a:r>
          </a:p>
        </p:txBody>
      </p:sp>
      <p:sp>
        <p:nvSpPr>
          <p:cNvPr id="13" name="TextBox 12"/>
          <p:cNvSpPr txBox="1"/>
          <p:nvPr/>
        </p:nvSpPr>
        <p:spPr>
          <a:xfrm>
            <a:off x="7223760" y="3364992"/>
            <a:ext cx="3886200" cy="868680"/>
          </a:xfrm>
          <a:prstGeom prst="rect">
            <a:avLst/>
          </a:prstGeom>
          <a:noFill/>
        </p:spPr>
        <p:txBody>
          <a:bodyPr wrap="square">
            <a:spAutoFit/>
          </a:bodyPr>
          <a:lstStyle/>
          <a:p>
            <a:pPr algn="l">
              <a:lnSpc>
                <a:spcPct val="105000"/>
              </a:lnSpc>
            </a:pPr>
            <a:r>
              <a:rPr sz="1350" b="0" i="0">
                <a:solidFill>
                  <a:srgbClr val="5B5F63"/>
                </a:solidFill>
                <a:latin typeface="Calibri"/>
              </a:rPr>
              <a:t>Every recommendation is retrieved from a real corpus of 2M+ recipes via vector search, then ranked against what's actually in your kitchen — not invented on the fly.</a:t>
            </a:r>
          </a:p>
        </p:txBody>
      </p:sp>
      <p:sp>
        <p:nvSpPr>
          <p:cNvPr id="14" name="Rounded Rectangle 13"/>
          <p:cNvSpPr/>
          <p:nvPr/>
        </p:nvSpPr>
        <p:spPr>
          <a:xfrm>
            <a:off x="822960" y="4599432"/>
            <a:ext cx="5120640" cy="16002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3000" y="4892040"/>
            <a:ext cx="502920" cy="502920"/>
          </a:xfrm>
          <a:prstGeom prst="ellipse">
            <a:avLst/>
          </a:prstGeom>
          <a:solidFill>
            <a:srgbClr val="E052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a:t>
            </a:r>
          </a:p>
        </p:txBody>
      </p:sp>
      <p:sp>
        <p:nvSpPr>
          <p:cNvPr id="16" name="TextBox 15"/>
          <p:cNvSpPr txBox="1"/>
          <p:nvPr/>
        </p:nvSpPr>
        <p:spPr>
          <a:xfrm>
            <a:off x="1828800" y="4800600"/>
            <a:ext cx="3886200" cy="457200"/>
          </a:xfrm>
          <a:prstGeom prst="rect">
            <a:avLst/>
          </a:prstGeom>
          <a:noFill/>
        </p:spPr>
        <p:txBody>
          <a:bodyPr wrap="square">
            <a:spAutoFit/>
          </a:bodyPr>
          <a:lstStyle/>
          <a:p>
            <a:pPr algn="l">
              <a:lnSpc>
                <a:spcPct val="100000"/>
              </a:lnSpc>
            </a:pPr>
            <a:r>
              <a:rPr sz="1900" b="1" i="0">
                <a:solidFill>
                  <a:srgbClr val="222224"/>
                </a:solidFill>
                <a:latin typeface="Calibri"/>
              </a:rPr>
              <a:t>Safety is structural</a:t>
            </a:r>
          </a:p>
        </p:txBody>
      </p:sp>
      <p:sp>
        <p:nvSpPr>
          <p:cNvPr id="17" name="TextBox 16"/>
          <p:cNvSpPr txBox="1"/>
          <p:nvPr/>
        </p:nvSpPr>
        <p:spPr>
          <a:xfrm>
            <a:off x="1828800" y="5221224"/>
            <a:ext cx="3886200" cy="868680"/>
          </a:xfrm>
          <a:prstGeom prst="rect">
            <a:avLst/>
          </a:prstGeom>
          <a:noFill/>
        </p:spPr>
        <p:txBody>
          <a:bodyPr wrap="square">
            <a:spAutoFit/>
          </a:bodyPr>
          <a:lstStyle/>
          <a:p>
            <a:pPr algn="l">
              <a:lnSpc>
                <a:spcPct val="105000"/>
              </a:lnSpc>
            </a:pPr>
            <a:r>
              <a:rPr sz="1350" b="0" i="0">
                <a:solidFill>
                  <a:srgbClr val="5B5F63"/>
                </a:solidFill>
                <a:latin typeface="Calibri"/>
              </a:rPr>
              <a:t>Allergy and diet exclusions are hard filters in the retrieval pipeline itself, not a prompt suggestion — unsafe recipes are never in the candidate set to begin with.</a:t>
            </a:r>
          </a:p>
        </p:txBody>
      </p:sp>
      <p:sp>
        <p:nvSpPr>
          <p:cNvPr id="18" name="Rounded Rectangle 17"/>
          <p:cNvSpPr/>
          <p:nvPr/>
        </p:nvSpPr>
        <p:spPr>
          <a:xfrm>
            <a:off x="6217920" y="4599432"/>
            <a:ext cx="5120640" cy="1600200"/>
          </a:xfrm>
          <a:prstGeom prst="roundRect">
            <a:avLst>
              <a:gd name="adj" fmla="val 6000"/>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37959" y="4892040"/>
            <a:ext cx="502920" cy="502920"/>
          </a:xfrm>
          <a:prstGeom prst="ellipse">
            <a:avLst/>
          </a:prstGeom>
          <a:solidFill>
            <a:srgbClr val="3E8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rPr>
              <a:t>💡</a:t>
            </a:r>
          </a:p>
        </p:txBody>
      </p:sp>
      <p:sp>
        <p:nvSpPr>
          <p:cNvPr id="20" name="TextBox 19"/>
          <p:cNvSpPr txBox="1"/>
          <p:nvPr/>
        </p:nvSpPr>
        <p:spPr>
          <a:xfrm>
            <a:off x="7223760" y="4800600"/>
            <a:ext cx="3886200" cy="457200"/>
          </a:xfrm>
          <a:prstGeom prst="rect">
            <a:avLst/>
          </a:prstGeom>
          <a:noFill/>
        </p:spPr>
        <p:txBody>
          <a:bodyPr wrap="square">
            <a:spAutoFit/>
          </a:bodyPr>
          <a:lstStyle/>
          <a:p>
            <a:pPr algn="l">
              <a:lnSpc>
                <a:spcPct val="100000"/>
              </a:lnSpc>
            </a:pPr>
            <a:r>
              <a:rPr sz="1900" b="1" i="0">
                <a:solidFill>
                  <a:srgbClr val="222224"/>
                </a:solidFill>
                <a:latin typeface="Calibri"/>
              </a:rPr>
              <a:t>Explained, not just listed</a:t>
            </a:r>
          </a:p>
        </p:txBody>
      </p:sp>
      <p:sp>
        <p:nvSpPr>
          <p:cNvPr id="21" name="TextBox 20"/>
          <p:cNvSpPr txBox="1"/>
          <p:nvPr/>
        </p:nvSpPr>
        <p:spPr>
          <a:xfrm>
            <a:off x="7223760" y="5221224"/>
            <a:ext cx="3886200" cy="868680"/>
          </a:xfrm>
          <a:prstGeom prst="rect">
            <a:avLst/>
          </a:prstGeom>
          <a:noFill/>
        </p:spPr>
        <p:txBody>
          <a:bodyPr wrap="square">
            <a:spAutoFit/>
          </a:bodyPr>
          <a:lstStyle/>
          <a:p>
            <a:pPr algn="l">
              <a:lnSpc>
                <a:spcPct val="105000"/>
              </a:lnSpc>
            </a:pPr>
            <a:r>
              <a:rPr sz="1350" b="0" i="0">
                <a:solidFill>
                  <a:srgbClr val="5B5F63"/>
                </a:solidFill>
                <a:latin typeface="Calibri"/>
              </a:rPr>
              <a:t>An LLM reasoning layer explains why each recipe fits and proposes substitutions for what you're missing — turning a ranked list into actual cooking guidance.</a:t>
            </a:r>
          </a:p>
        </p:txBody>
      </p:sp>
      <p:sp>
        <p:nvSpPr>
          <p:cNvPr id="22" name="TextBox 21"/>
          <p:cNvSpPr txBox="1"/>
          <p:nvPr/>
        </p:nvSpPr>
        <p:spPr>
          <a:xfrm>
            <a:off x="822960" y="6446520"/>
            <a:ext cx="5486400" cy="320040"/>
          </a:xfrm>
          <a:prstGeom prst="rect">
            <a:avLst/>
          </a:prstGeom>
          <a:noFill/>
        </p:spPr>
        <p:txBody>
          <a:bodyPr wrap="square">
            <a:spAutoFit/>
          </a:bodyPr>
          <a:lstStyle/>
          <a:p>
            <a:pPr algn="l">
              <a:lnSpc>
                <a:spcPct val="100000"/>
              </a:lnSpc>
            </a:pPr>
            <a:r>
              <a:rPr sz="1050" b="0" i="0">
                <a:solidFill>
                  <a:srgbClr val="5B5F63"/>
                </a:solidFill>
                <a:latin typeface="Calibri"/>
              </a:rPr>
              <a:t>Dishify — Final Presentation</a:t>
            </a:r>
          </a:p>
        </p:txBody>
      </p:sp>
      <p:sp>
        <p:nvSpPr>
          <p:cNvPr id="23" name="TextBox 22"/>
          <p:cNvSpPr txBox="1"/>
          <p:nvPr/>
        </p:nvSpPr>
        <p:spPr>
          <a:xfrm>
            <a:off x="10972800" y="6446520"/>
            <a:ext cx="731520" cy="320040"/>
          </a:xfrm>
          <a:prstGeom prst="rect">
            <a:avLst/>
          </a:prstGeom>
          <a:noFill/>
        </p:spPr>
        <p:txBody>
          <a:bodyPr wrap="square">
            <a:spAutoFit/>
          </a:bodyPr>
          <a:lstStyle/>
          <a:p>
            <a:pPr algn="r">
              <a:lnSpc>
                <a:spcPct val="100000"/>
              </a:lnSpc>
            </a:pPr>
            <a:r>
              <a:rPr sz="1050" b="0" i="0">
                <a:solidFill>
                  <a:srgbClr val="5B5F63"/>
                </a:solidFill>
                <a:latin typeface="Calibri"/>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